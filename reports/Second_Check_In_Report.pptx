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0d1cc3ffd7443b" /><Relationship Type="http://schemas.openxmlformats.org/officeDocument/2006/relationships/extended-properties" Target="/docProps/app.xml" Id="Red7c5f6d8c234c94" /><Relationship Type="http://schemas.openxmlformats.org/officeDocument/2006/relationships/officeDocument" Target="/ppt/presentation.xml" Id="R2d25bc2628844b27" /></Relationships>
</file>

<file path=ppt/presentation.xml><?xml version="1.0" encoding="utf-8"?>
<p:presentation xmlns:p="http://schemas.openxmlformats.org/presentationml/2006/main">
  <p:sldMasterIdLst>
    <p:sldMasterId xmlns:r="http://schemas.openxmlformats.org/officeDocument/2006/relationships" id="2147483648" r:id="Rd169badbe65f45ce"/>
  </p:sldMasterIdLst>
  <p:notesMasterIdLst>
    <p:notesMasterId xmlns:r="http://schemas.openxmlformats.org/officeDocument/2006/relationships" r:id="R95e8cf4830964958"/>
  </p:notesMasterIdLst>
  <p:sldIdLst>
    <p:sldId xmlns:r="http://schemas.openxmlformats.org/officeDocument/2006/relationships" id="256" r:id="Ra4fad80ad9204301"/>
    <p:sldId xmlns:r="http://schemas.openxmlformats.org/officeDocument/2006/relationships" id="257" r:id="R7ccd2083656145bb"/>
    <p:sldId xmlns:r="http://schemas.openxmlformats.org/officeDocument/2006/relationships" id="258" r:id="R42fbc3e043e6483e"/>
    <p:sldId xmlns:r="http://schemas.openxmlformats.org/officeDocument/2006/relationships" id="259" r:id="Rf4273ab7bbff4f91"/>
    <p:sldId xmlns:r="http://schemas.openxmlformats.org/officeDocument/2006/relationships" id="260" r:id="R3acf03b9bdc4423f"/>
    <p:sldId xmlns:r="http://schemas.openxmlformats.org/officeDocument/2006/relationships" id="261" r:id="R9bf3b99471514796"/>
    <p:sldId xmlns:r="http://schemas.openxmlformats.org/officeDocument/2006/relationships" id="262" r:id="R56da3b14f3754b89"/>
    <p:sldId xmlns:r="http://schemas.openxmlformats.org/officeDocument/2006/relationships" id="263" r:id="Rde6dbcbd5d1241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c2ea9a900746e0" /><Relationship Type="http://schemas.openxmlformats.org/officeDocument/2006/relationships/slideMaster" Target="/ppt/slideMasters/slideMaster1.xml" Id="Rd169badbe65f45ce" /><Relationship Type="http://schemas.openxmlformats.org/officeDocument/2006/relationships/notesMaster" Target="/ppt/notesMasters/notesMaster1.xml" Id="R95e8cf4830964958" /><Relationship Type="http://schemas.openxmlformats.org/officeDocument/2006/relationships/presProps" Target="/ppt/presProps.xml" Id="Rea9180fc466d4d7c" /><Relationship Type="http://schemas.openxmlformats.org/officeDocument/2006/relationships/tableStyles" Target="/ppt/tableStyles.xml" Id="R82cc18bf90684e5d" /><Relationship Type="http://schemas.openxmlformats.org/officeDocument/2006/relationships/slide" Target="/ppt/slides/slide1.xml" Id="Ra4fad80ad9204301" /><Relationship Type="http://schemas.openxmlformats.org/officeDocument/2006/relationships/slide" Target="/ppt/slides/slide2.xml" Id="R7ccd2083656145bb" /><Relationship Type="http://schemas.openxmlformats.org/officeDocument/2006/relationships/slide" Target="/ppt/slides/slide3.xml" Id="R42fbc3e043e6483e" /><Relationship Type="http://schemas.openxmlformats.org/officeDocument/2006/relationships/slide" Target="/ppt/slides/slide4.xml" Id="Rf4273ab7bbff4f91" /><Relationship Type="http://schemas.openxmlformats.org/officeDocument/2006/relationships/slide" Target="/ppt/slides/slide5.xml" Id="R3acf03b9bdc4423f" /><Relationship Type="http://schemas.openxmlformats.org/officeDocument/2006/relationships/slide" Target="/ppt/slides/slide6.xml" Id="R9bf3b99471514796" /><Relationship Type="http://schemas.openxmlformats.org/officeDocument/2006/relationships/slide" Target="/ppt/slides/slide7.xml" Id="R56da3b14f3754b89" /><Relationship Type="http://schemas.openxmlformats.org/officeDocument/2006/relationships/slide" Target="/ppt/slides/slide8.xml" Id="Rde6dbcbd5d1241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1e3151ed8647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3bb20bbd8747f8" /><Relationship Type="http://schemas.openxmlformats.org/officeDocument/2006/relationships/notesMaster" Target="/ppt/notesMasters/notesMaster1.xml" Id="Rf20f8998b5704b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5a2f9215ff4252" /><Relationship Type="http://schemas.openxmlformats.org/officeDocument/2006/relationships/notesMaster" Target="/ppt/notesMasters/notesMaster1.xml" Id="Rc0c72038f69f44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c3f5c0d67b4b5d" /><Relationship Type="http://schemas.openxmlformats.org/officeDocument/2006/relationships/notesMaster" Target="/ppt/notesMasters/notesMaster1.xml" Id="R23e164c91bf0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393e2134d84883" /><Relationship Type="http://schemas.openxmlformats.org/officeDocument/2006/relationships/notesMaster" Target="/ppt/notesMasters/notesMaster1.xml" Id="R0fbe8f3ba64046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4579cd10b64327" /><Relationship Type="http://schemas.openxmlformats.org/officeDocument/2006/relationships/notesMaster" Target="/ppt/notesMasters/notesMaster1.xml" Id="Re366d10ddae544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cd64ae3c784ba1" /><Relationship Type="http://schemas.openxmlformats.org/officeDocument/2006/relationships/notesMaster" Target="/ppt/notesMasters/notesMaster1.xml" Id="Rca226944ebbc46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1c38f789ba41e6" /><Relationship Type="http://schemas.openxmlformats.org/officeDocument/2006/relationships/notesMaster" Target="/ppt/notesMasters/notesMaster1.xml" Id="Rfa988b1f614f45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2364d501f741b0" /><Relationship Type="http://schemas.openxmlformats.org/officeDocument/2006/relationships/notesMaster" Target="/ppt/notesMasters/notesMaster1.xml" Id="R3690c250acb54b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completed work corresponding to Weeks 5–6, not a claim that two calendar weeks elapsed. This deck summarizes reports/Second_Progress_Report.html and outputs/weeks5_6/. All results are development validation. Final holdouts remain unused.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reports/weeks5_6_methodology.md; outputs/weeks5_6/run_metadata.json; outputs/weeks5_6/validation_checks.json. IBM development n=5,634; Iranian n=2,521; retail has 12,318 validation customer-origin observations across four origins, not unique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src/advanced_models.py; config/weeks5_6_experiment.json; reports/weeks5_6_methodology.md. Telecom reuses frozen outer folds. Three inner folds select maximum mean average precision. StratifiedGroupKFold enforces Iranian profile groups, including outer holdout separation. Retail uses earlier origins and checks training label end &lt;= validation cutoff. First retail outer split has no inner temporal validation and uses candidate 0. Fixed XGBoost settings: learning_rate=.05, min_child_weight=5, reg_lambda=5, subsample=colsample_bytree=1, seed=5920, n_jobs=1, tree_method=hist. Models: prior, L2 Logistic Regression C=1, nested XGBoost.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outputs/weeks5_6/model_comparison.csv; outputs/weeks5_6/fold_metrics.csv. Unweighted outer-fold means, five telecom folds and four retail origins. Delta AP: IBM +0.009967832, Iranian +0.120563276, retail +0.000401660. Comparisons are within dataset because labels, prevalence and validation differ. No confidence intervals or statistical significance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outputs/weeks5_6/model_comparison.csv and fold_metrics.csv. Brier averages: IBM LR .1365437373 XGB .1349750957; Iranian LR .0708461318 XGB .0492378357; retail LR .2130641738 XGB .2135076863. Retail mean absolute cohort-retention error, equally averaging origins: LR 10.573387 pp, XGB 10.650025 pp. Brier is a proper score reflecting probability accuracy, not a pure calibration measure. No fitted calibrator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outputs/weeks5_6/shap_importance.csv. Means across outer folds, with each fold equally weighted. Native XGBoost pred_contribs computes TreeSHAP in raw margin space. Contributions plus bias sum to raw prediction margin, checked at atol=1e-5. Top three transformed feature columns shown. Labels shorten source feature names without changing identity. Correlated predictors can share attribution. Importance does not show direction or establish causal intervention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outputs/weeks5_6/model_comparison.csv; reports/methodology.md; reports/weeks5_6_methodology.md. Iranian XGBoost improves all five outer-fold AP values. IBM effect is small and inconsistent by fold. Retail AP is essentially unchanged and Brier slightly worse. No causal lift or ROI has been estimated. Final holdouts remain untouched.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work, not completed: fit sigmoid calibration using training-only predictions, respecting group/temporal boundaries; compare Brier and retention MAE on protected outer validation folds. Inspect directional SHAP and stability across folds and customer subgroups, with minimum subgroup support and uncertainty caveats. Investigate retail temporal drift and 60/90-day horizon sensitivity without consulting final holdout outcomes. Freeze model family and hyperparameters, calibration and metrics before any final-test evaluation. Final evaluation is a later gated stage, not part of the completed Weeks 5–6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191d239de46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98a9477cdc4d66" /><Relationship Type="http://schemas.openxmlformats.org/officeDocument/2006/relationships/slideLayout" Target="/ppt/slideLayouts/slideLayout1.xml" Id="R87ee6f0455334c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e6f0455334c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98e28abfb8459e" /><Relationship Type="http://schemas.openxmlformats.org/officeDocument/2006/relationships/notesSlide" Target="/ppt/notesSlides/notesSlide1.xml" Id="Re63c5ba2c0ff43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78eeada6264793" /><Relationship Type="http://schemas.openxmlformats.org/officeDocument/2006/relationships/notesSlide" Target="/ppt/notesSlides/notesSlide2.xml" Id="R3be58da5000d46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860e0557d64c1b" /><Relationship Type="http://schemas.openxmlformats.org/officeDocument/2006/relationships/notesSlide" Target="/ppt/notesSlides/notesSlide3.xml" Id="Rf1f926e780744a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608266c00343e4" /><Relationship Type="http://schemas.openxmlformats.org/officeDocument/2006/relationships/chart" Target="/ppt/slides/charts/chart1.xml" Id="Red512fddc6144d43" /><Relationship Type="http://schemas.openxmlformats.org/officeDocument/2006/relationships/notesSlide" Target="/ppt/notesSlides/notesSlide4.xml" Id="R258465f0fab047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3f94a4c65648e4" /><Relationship Type="http://schemas.openxmlformats.org/officeDocument/2006/relationships/chart" Target="/ppt/slides/charts/chart2.xml" Id="R5043a5c18b304487" /><Relationship Type="http://schemas.openxmlformats.org/officeDocument/2006/relationships/notesSlide" Target="/ppt/notesSlides/notesSlide5.xml" Id="R3717fa37902046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1d732e9ae443d3" /><Relationship Type="http://schemas.openxmlformats.org/officeDocument/2006/relationships/chart" Target="/ppt/slides/charts/chart3.xml" Id="R978bc3bfbec34bdb" /><Relationship Type="http://schemas.openxmlformats.org/officeDocument/2006/relationships/chart" Target="/ppt/slides/charts/chart4.xml" Id="R75e4ab0420174ac5" /><Relationship Type="http://schemas.openxmlformats.org/officeDocument/2006/relationships/chart" Target="/ppt/slides/charts/chart5.xml" Id="R8bfc154746554b5a" /><Relationship Type="http://schemas.openxmlformats.org/officeDocument/2006/relationships/notesSlide" Target="/ppt/notesSlides/notesSlide6.xml" Id="Rf9ac2776f72043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7dde7ab5734e72" /><Relationship Type="http://schemas.openxmlformats.org/officeDocument/2006/relationships/notesSlide" Target="/ppt/notesSlides/notesSlide7.xml" Id="Rc94759330f1f45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1709fdbdce4495" /><Relationship Type="http://schemas.openxmlformats.org/officeDocument/2006/relationships/notesSlide" Target="/ppt/notesSlides/notesSlide8.xml" Id="R2212d5fc2d5d4f9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Logistic Regression</c:v>
          </c:tx>
          <c:spPr>
            <a:solidFill xmlns:a="http://schemas.openxmlformats.org/drawingml/2006/main">
              <a:srgbClr val="2878AA"/>
            </a:solidFill>
          </c:spPr>
          <c:cat>
            <c:strRef>
              <c:f>'Chart Data'!$A$2:$A$4</c:f>
              <c:strCache>
                <c:ptCount val="3"/>
                <c:pt idx="0">
                  <c:v>IBM Telco</c:v>
                </c:pt>
                <c:pt idx="1">
                  <c:v>Iranian churn</c:v>
                </c:pt>
                <c:pt idx="2">
                  <c:v>Online retail</c:v>
                </c:pt>
              </c:strCache>
            </c:strRef>
          </c:cat>
          <c:val>
            <c:numRef>
              <c:f>'Chart Data'!$B$2:$B$4</c:f>
              <c:numCache>
                <c:formatCode>0.000</c:formatCode>
                <c:ptCount val="3"/>
                <c:pt idx="0">
                  <c:v>0.650191</c:v>
                </c:pt>
                <c:pt idx="1">
                  <c:v>0.754552</c:v>
                </c:pt>
                <c:pt idx="2">
                  <c:v>0.70819</c:v>
                </c:pt>
              </c:numCache>
            </c:numRef>
          </c:val>
        </c:ser>
        <c:ser>
          <c:idx val="1"/>
          <c:order val="1"/>
          <c:tx>
            <c:v>XGBoost</c:v>
          </c:tx>
          <c:spPr>
            <a:solidFill xmlns:a="http://schemas.openxmlformats.org/drawingml/2006/main">
              <a:srgbClr val="D87838"/>
            </a:solidFill>
          </c:spPr>
          <c:cat>
            <c:strRef>
              <c:f>'Chart Data'!$C$2:$C$4</c:f>
              <c:strCache>
                <c:ptCount val="3"/>
                <c:pt idx="0">
                  <c:v>IBM Telco</c:v>
                </c:pt>
                <c:pt idx="1">
                  <c:v>Iranian churn</c:v>
                </c:pt>
                <c:pt idx="2">
                  <c:v>Online retail</c:v>
                </c:pt>
              </c:strCache>
            </c:strRef>
          </c:cat>
          <c:val>
            <c:numRef>
              <c:f>'Chart Data'!$D$2:$D$4</c:f>
              <c:numCache>
                <c:formatCode>0.000</c:formatCode>
                <c:ptCount val="3"/>
                <c:pt idx="0">
                  <c:v>0.660159</c:v>
                </c:pt>
                <c:pt idx="1">
                  <c:v>0.875115</c:v>
                </c:pt>
                <c:pt idx="2">
                  <c:v>0.708592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E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7"/>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Logistic Regression</c:v>
          </c:tx>
          <c:spPr>
            <a:solidFill xmlns:a="http://schemas.openxmlformats.org/drawingml/2006/main">
              <a:srgbClr val="2878AA"/>
            </a:solidFill>
          </c:spPr>
          <c:cat>
            <c:strRef>
              <c:f>'Chart Data'!$A$2:$A$4</c:f>
              <c:strCache>
                <c:ptCount val="3"/>
                <c:pt idx="0">
                  <c:v>IBM Telco</c:v>
                </c:pt>
                <c:pt idx="1">
                  <c:v>Iranian churn</c:v>
                </c:pt>
                <c:pt idx="2">
                  <c:v>Online retail</c:v>
                </c:pt>
              </c:strCache>
            </c:strRef>
          </c:cat>
          <c:val>
            <c:numRef>
              <c:f>'Chart Data'!$B$2:$B$4</c:f>
              <c:numCache>
                <c:formatCode>0.000</c:formatCode>
                <c:ptCount val="3"/>
                <c:pt idx="0">
                  <c:v>0.136544</c:v>
                </c:pt>
                <c:pt idx="1">
                  <c:v>0.070846</c:v>
                </c:pt>
                <c:pt idx="2">
                  <c:v>0.213064</c:v>
                </c:pt>
              </c:numCache>
            </c:numRef>
          </c:val>
        </c:ser>
        <c:ser>
          <c:idx val="1"/>
          <c:order val="1"/>
          <c:tx>
            <c:v>XGBoost</c:v>
          </c:tx>
          <c:spPr>
            <a:solidFill xmlns:a="http://schemas.openxmlformats.org/drawingml/2006/main">
              <a:srgbClr val="D87838"/>
            </a:solidFill>
          </c:spPr>
          <c:cat>
            <c:strRef>
              <c:f>'Chart Data'!$C$2:$C$4</c:f>
              <c:strCache>
                <c:ptCount val="3"/>
                <c:pt idx="0">
                  <c:v>IBM Telco</c:v>
                </c:pt>
                <c:pt idx="1">
                  <c:v>Iranian churn</c:v>
                </c:pt>
                <c:pt idx="2">
                  <c:v>Online retail</c:v>
                </c:pt>
              </c:strCache>
            </c:strRef>
          </c:cat>
          <c:val>
            <c:numRef>
              <c:f>'Chart Data'!$D$2:$D$4</c:f>
              <c:numCache>
                <c:formatCode>0.000</c:formatCode>
                <c:ptCount val="3"/>
                <c:pt idx="0">
                  <c:v>0.134975</c:v>
                </c:pt>
                <c:pt idx="1">
                  <c:v>0.049238</c:v>
                </c:pt>
                <c:pt idx="2">
                  <c:v>0.213508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crossAx val="48672768"/>
      </c:catAx>
      <c:valAx>
        <c:axId val="48672768"/>
        <c:scaling>
          <c:orientation val="minMax"/>
          <c:max val="0.25"/>
          <c:min val="0"/>
        </c:scaling>
        <c:delete val="0"/>
        <c:axPos val="l"/>
        <c:majorGridlines>
          <c:spPr>
            <a:ln xmlns:a="http://schemas.openxmlformats.org/drawingml/2006/main" w="9525">
              <a:solidFill>
                <a:srgbClr val="DE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7"/>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SHAP</c:v>
          </c:tx>
          <c:spPr>
            <a:solidFill xmlns:a="http://schemas.openxmlformats.org/drawingml/2006/main">
              <a:srgbClr val="127C80"/>
            </a:solidFill>
          </c:spPr>
          <c:cat>
            <c:strRef>
              <c:f>'Chart Data'!$A$2:$A$4</c:f>
              <c:strCache>
                <c:ptCount val="3"/>
                <c:pt idx="0">
                  <c:v>Month-to-month contract</c:v>
                </c:pt>
                <c:pt idx="1">
                  <c:v>Tenure</c:v>
                </c:pt>
                <c:pt idx="2">
                  <c:v>Fiber optic service</c:v>
                </c:pt>
              </c:strCache>
            </c:strRef>
          </c:cat>
          <c:val>
            <c:numRef>
              <c:f>'Chart Data'!$B$2:$B$4</c:f>
              <c:numCache>
                <c:formatCode>0.00</c:formatCode>
                <c:ptCount val="3"/>
                <c:pt idx="0">
                  <c:v>0.536772</c:v>
                </c:pt>
                <c:pt idx="1">
                  <c:v>0.492553</c:v>
                </c:pt>
                <c:pt idx="2">
                  <c:v>0.260582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crossAx val="48672768"/>
      </c:catAx>
      <c:valAx>
        <c:axId val="48672768"/>
        <c:scaling>
          <c:orientation val="minMax"/>
          <c:max val="1.15"/>
          <c:min val="0"/>
        </c:scaling>
        <c:delete val="0"/>
        <c:axPos val="b"/>
        <c:majorGridlines>
          <c:spPr>
            <a:ln xmlns:a="http://schemas.openxmlformats.org/drawingml/2006/main" w="9525">
              <a:solidFill>
                <a:srgbClr val="DEE5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7"/>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SHAP</c:v>
          </c:tx>
          <c:spPr>
            <a:solidFill xmlns:a="http://schemas.openxmlformats.org/drawingml/2006/main">
              <a:srgbClr val="127C80"/>
            </a:solidFill>
          </c:spPr>
          <c:cat>
            <c:strRef>
              <c:f>'Chart Data'!$A$2:$A$4</c:f>
              <c:strCache>
                <c:ptCount val="3"/>
                <c:pt idx="0">
                  <c:v>Usage frequency</c:v>
                </c:pt>
                <c:pt idx="1">
                  <c:v>SMS frequency</c:v>
                </c:pt>
                <c:pt idx="2">
                  <c:v>No complaint indicator</c:v>
                </c:pt>
              </c:strCache>
            </c:strRef>
          </c:cat>
          <c:val>
            <c:numRef>
              <c:f>'Chart Data'!$B$2:$B$4</c:f>
              <c:numCache>
                <c:formatCode>0.00</c:formatCode>
                <c:ptCount val="3"/>
                <c:pt idx="0">
                  <c:v>1.012914</c:v>
                </c:pt>
                <c:pt idx="1">
                  <c:v>0.696861</c:v>
                </c:pt>
                <c:pt idx="2">
                  <c:v>0.661096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crossAx val="48672768"/>
      </c:catAx>
      <c:valAx>
        <c:axId val="48672768"/>
        <c:scaling>
          <c:orientation val="minMax"/>
          <c:max val="1.15"/>
          <c:min val="0"/>
        </c:scaling>
        <c:delete val="0"/>
        <c:axPos val="b"/>
        <c:majorGridlines>
          <c:spPr>
            <a:ln xmlns:a="http://schemas.openxmlformats.org/drawingml/2006/main" w="9525">
              <a:solidFill>
                <a:srgbClr val="DEE5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7"/>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SHAP</c:v>
          </c:tx>
          <c:spPr>
            <a:solidFill xmlns:a="http://schemas.openxmlformats.org/drawingml/2006/main">
              <a:srgbClr val="127C80"/>
            </a:solidFill>
          </c:spPr>
          <c:cat>
            <c:strRef>
              <c:f>'Chart Data'!$A$2:$A$4</c:f>
              <c:strCache>
                <c:ptCount val="3"/>
                <c:pt idx="0">
                  <c:v>Purchase span</c:v>
                </c:pt>
                <c:pt idx="1">
                  <c:v>Gross spend</c:v>
                </c:pt>
                <c:pt idx="2">
                  <c:v>Invoice frequency</c:v>
                </c:pt>
              </c:strCache>
            </c:strRef>
          </c:cat>
          <c:val>
            <c:numRef>
              <c:f>'Chart Data'!$B$2:$B$4</c:f>
              <c:numCache>
                <c:formatCode>0.00</c:formatCode>
                <c:ptCount val="3"/>
                <c:pt idx="0">
                  <c:v>0.306069</c:v>
                </c:pt>
                <c:pt idx="1">
                  <c:v>0.243355</c:v>
                </c:pt>
                <c:pt idx="2">
                  <c:v>0.228468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13547"/>
                </a:solidFill>
                <a:latin typeface="Helvetica Neue"/>
                <a:ea typeface="Helvetica Neue"/>
                <a:cs typeface="Helvetica Neue"/>
              </a:defRPr>
            </a:pPr>
          </a:p>
        </c:txPr>
        <c:crossAx val="48672768"/>
      </c:catAx>
      <c:valAx>
        <c:axId val="48672768"/>
        <c:scaling>
          <c:orientation val="minMax"/>
          <c:max val="1.15"/>
          <c:min val="0"/>
        </c:scaling>
        <c:delete val="0"/>
        <c:axPos val="b"/>
        <c:majorGridlines>
          <c:spPr>
            <a:ln xmlns:a="http://schemas.openxmlformats.org/drawingml/2006/main" w="9525">
              <a:solidFill>
                <a:srgbClr val="DEE5EB"/>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7"/>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6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C82960-F8DC-4509-BE44-4C0801DF7C57}"/>
              </a:ext>
            </a:extLst>
          </p:cNvPr>
          <p:cNvSpPr>
            <a:spLocks xmlns:a="http://schemas.openxmlformats.org/drawingml/2006/main" noGrp="1"/>
          </p:cNvSpPr>
          <p:nvPr/>
        </p:nvSpPr>
        <p:spPr>
          <a:xfrm xmlns:a="http://schemas.openxmlformats.org/drawingml/2006/main">
            <a:off x="685800" y="1257300"/>
            <a:ext cx="10382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Customer retention</a:t>
            </a:r>
          </a:p>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prediction</a:t>
            </a:r>
          </a:p>
        </p:txBody>
      </p:sp>
      <p:sp>
        <p:nvSpPr>
          <p:cNvPr id="2" name="">
            <a:extLst xmlns:a="http://schemas.openxmlformats.org/drawingml/2006/main">
              <a:ext uri="{FF2B5EF4-FFF2-40B4-BE49-F238E27FC236}">
                <a16:creationId xmlns:a16="http://schemas.microsoft.com/office/drawing/2014/main" id="{727FC66C-9BCE-4E01-8C57-67DC23079F9B}"/>
              </a:ext>
            </a:extLst>
          </p:cNvPr>
          <p:cNvSpPr>
            <a:spLocks xmlns:a="http://schemas.openxmlformats.org/drawingml/2006/main" noGrp="1"/>
          </p:cNvSpPr>
          <p:nvPr/>
        </p:nvSpPr>
        <p:spPr>
          <a:xfrm xmlns:a="http://schemas.openxmlformats.org/drawingml/2006/main">
            <a:off x="723900" y="33528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Second check-in report</a:t>
            </a:r>
          </a:p>
        </p:txBody>
      </p:sp>
      <p:sp>
        <p:nvSpPr>
          <p:cNvPr id="3" name="">
            <a:extLst xmlns:a="http://schemas.openxmlformats.org/drawingml/2006/main">
              <a:ext uri="{FF2B5EF4-FFF2-40B4-BE49-F238E27FC236}">
                <a16:creationId xmlns:a16="http://schemas.microsoft.com/office/drawing/2014/main" id="{6F8BE643-430C-49F7-ACF1-ADEA2C6BC949}"/>
              </a:ext>
            </a:extLst>
          </p:cNvPr>
          <p:cNvSpPr>
            <a:spLocks xmlns:a="http://schemas.openxmlformats.org/drawingml/2006/main" noGrp="1"/>
          </p:cNvSpPr>
          <p:nvPr/>
        </p:nvSpPr>
        <p:spPr>
          <a:xfrm xmlns:a="http://schemas.openxmlformats.org/drawingml/2006/main">
            <a:off x="723900" y="40195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9DEE9"/>
                </a:solidFill>
                <a:latin typeface="Helvetica Neue"/>
                <a:ea typeface="Helvetica Neue"/>
                <a:cs typeface="Helvetica Neue"/>
              </a:defRPr>
            </a:pPr>
            <a:r>
              <a:rPr sz="2100" b="0">
                <a:solidFill>
                  <a:srgbClr val="C9DEE9"/>
                </a:solidFill>
                <a:latin typeface="Helvetica Neue"/>
                <a:ea typeface="Helvetica Neue"/>
                <a:cs typeface="Helvetica Neue"/>
              </a:rPr>
              <a:t>Weeks 5–6: nonlinear models and validation results</a:t>
            </a:r>
          </a:p>
        </p:txBody>
      </p:sp>
      <p:sp>
        <p:nvSpPr>
          <p:cNvPr id="4" name="">
            <a:extLst xmlns:a="http://schemas.openxmlformats.org/drawingml/2006/main">
              <a:ext uri="{FF2B5EF4-FFF2-40B4-BE49-F238E27FC236}">
                <a16:creationId xmlns:a16="http://schemas.microsoft.com/office/drawing/2014/main" id="{A613317E-2192-4439-803B-8180C7EE8FD2}"/>
              </a:ext>
            </a:extLst>
          </p:cNvPr>
          <p:cNvSpPr>
            <a:spLocks xmlns:a="http://schemas.openxmlformats.org/drawingml/2006/main" noGrp="1"/>
          </p:cNvSpPr>
          <p:nvPr/>
        </p:nvSpPr>
        <p:spPr>
          <a:xfrm xmlns:a="http://schemas.openxmlformats.org/drawingml/2006/main">
            <a:off x="723900" y="531495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9DEE9"/>
                </a:solidFill>
                <a:latin typeface="Helvetica Neue"/>
                <a:ea typeface="Helvetica Neue"/>
                <a:cs typeface="Helvetica Neue"/>
              </a:defRPr>
            </a:pPr>
            <a:r>
              <a:rPr sz="1575" b="0">
                <a:solidFill>
                  <a:srgbClr val="C9DEE9"/>
                </a:solidFill>
                <a:latin typeface="Helvetica Neue"/>
                <a:ea typeface="Helvetica Neue"/>
                <a:cs typeface="Helvetica Neue"/>
              </a:rPr>
              <a:t>INFO 5920</a:t>
            </a:r>
          </a:p>
          <a:p xmlns:a="http://schemas.openxmlformats.org/drawingml/2006/main">
            <a:pPr>
              <a:defRPr sz="1575" b="0">
                <a:solidFill>
                  <a:srgbClr val="C9DEE9"/>
                </a:solidFill>
                <a:latin typeface="Helvetica Neue"/>
                <a:ea typeface="Helvetica Neue"/>
                <a:cs typeface="Helvetica Neue"/>
              </a:defRPr>
            </a:pPr>
            <a:r>
              <a:rPr sz="1575" b="0">
                <a:solidFill>
                  <a:srgbClr val="C9DEE9"/>
                </a:solidFill>
                <a:latin typeface="Helvetica Neue"/>
                <a:ea typeface="Helvetica Neue"/>
                <a:cs typeface="Helvetica Neue"/>
              </a:rPr>
              <a:t>Jiatong Xu (jx429) and Zhiming Zhang (zz939)</a:t>
            </a:r>
          </a:p>
          <a:p xmlns:a="http://schemas.openxmlformats.org/drawingml/2006/main">
            <a:pPr>
              <a:defRPr sz="1575" b="0">
                <a:solidFill>
                  <a:srgbClr val="C9DEE9"/>
                </a:solidFill>
                <a:latin typeface="Helvetica Neue"/>
                <a:ea typeface="Helvetica Neue"/>
                <a:cs typeface="Helvetica Neue"/>
              </a:defRPr>
            </a:pPr>
            <a:r>
              <a:rPr sz="1575" b="0">
                <a:solidFill>
                  <a:srgbClr val="C9DEE9"/>
                </a:solidFill>
                <a:latin typeface="Helvetica Neue"/>
                <a:ea typeface="Helvetica Neue"/>
                <a:cs typeface="Helvetica Neue"/>
              </a:rPr>
              <a:t>September 29, 2026</a:t>
            </a:r>
          </a:p>
        </p:txBody>
      </p:sp>
    </p:spTree>
    <p:extLst>
      <p:ext uri="{BB962C8B-B14F-4D97-AF65-F5344CB8AC3E}">
        <p14:creationId xmlns:p14="http://schemas.microsoft.com/office/powerpoint/2010/main" val="1487205494"/>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B4D92DD-D247-4C32-B3C5-45926204AFC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Current progress</a:t>
            </a:r>
          </a:p>
        </p:txBody>
      </p:sp>
      <p:sp>
        <p:nvSpPr>
          <p:cNvPr id="2" name="">
            <a:extLst xmlns:a="http://schemas.openxmlformats.org/drawingml/2006/main">
              <a:ext uri="{FF2B5EF4-FFF2-40B4-BE49-F238E27FC236}">
                <a16:creationId xmlns:a16="http://schemas.microsoft.com/office/drawing/2014/main" id="{7FD4BFE9-9EBA-476F-9DD0-398D22F75560}"/>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The project now has a reproducible nonlinear comparison across three datasets.</a:t>
            </a:r>
          </a:p>
        </p:txBody>
      </p:sp>
      <p:sp>
        <p:nvSpPr>
          <p:cNvPr id="3" name="">
            <a:extLst xmlns:a="http://schemas.openxmlformats.org/drawingml/2006/main">
              <a:ext uri="{FF2B5EF4-FFF2-40B4-BE49-F238E27FC236}">
                <a16:creationId xmlns:a16="http://schemas.microsoft.com/office/drawing/2014/main" id="{88335583-0A46-4E74-B543-F44CE4A5BBAF}"/>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BFE9026B-FD88-47B6-8503-57C67E83358D}"/>
              </a:ext>
            </a:extLst>
          </p:cNvPr>
          <p:cNvSpPr>
            <a:spLocks xmlns:a="http://schemas.openxmlformats.org/drawingml/2006/main" noGrp="1"/>
          </p:cNvSpPr>
          <p:nvPr/>
        </p:nvSpPr>
        <p:spPr>
          <a:xfrm xmlns:a="http://schemas.openxmlformats.org/drawingml/2006/main">
            <a:off x="609600" y="19621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64D"/>
                </a:solidFill>
                <a:latin typeface="Helvetica Neue"/>
                <a:ea typeface="Helvetica Neue"/>
                <a:cs typeface="Helvetica Neue"/>
              </a:defRPr>
            </a:pPr>
            <a:r>
              <a:rPr sz="2175" b="1">
                <a:solidFill>
                  <a:srgbClr val="17364D"/>
                </a:solidFill>
                <a:latin typeface="Helvetica Neue"/>
                <a:ea typeface="Helvetica Neue"/>
                <a:cs typeface="Helvetica Neue"/>
              </a:rPr>
              <a:t>Completed before this check-in</a:t>
            </a:r>
          </a:p>
        </p:txBody>
      </p:sp>
      <p:sp>
        <p:nvSpPr>
          <p:cNvPr id="5" name="">
            <a:extLst xmlns:a="http://schemas.openxmlformats.org/drawingml/2006/main">
              <a:ext uri="{FF2B5EF4-FFF2-40B4-BE49-F238E27FC236}">
                <a16:creationId xmlns:a16="http://schemas.microsoft.com/office/drawing/2014/main" id="{0615CBC8-62CB-49E8-A32A-AD3EFE8563B9}"/>
              </a:ext>
            </a:extLst>
          </p:cNvPr>
          <p:cNvSpPr>
            <a:spLocks xmlns:a="http://schemas.openxmlformats.org/drawingml/2006/main" noGrp="1"/>
          </p:cNvSpPr>
          <p:nvPr/>
        </p:nvSpPr>
        <p:spPr>
          <a:xfrm xmlns:a="http://schemas.openxmlformats.org/drawingml/2006/main">
            <a:off x="609600" y="2562225"/>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Data audits and cohort definitions</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Development-only exploratory analysis</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Logistic Regression and prior baselines</a:t>
            </a:r>
          </a:p>
        </p:txBody>
      </p:sp>
      <p:sp>
        <p:nvSpPr>
          <p:cNvPr id="6" name="">
            <a:extLst xmlns:a="http://schemas.openxmlformats.org/drawingml/2006/main">
              <a:ext uri="{FF2B5EF4-FFF2-40B4-BE49-F238E27FC236}">
                <a16:creationId xmlns:a16="http://schemas.microsoft.com/office/drawing/2014/main" id="{FD77194C-752E-4247-BC47-75E5827C617F}"/>
              </a:ext>
            </a:extLst>
          </p:cNvPr>
          <p:cNvSpPr>
            <a:spLocks xmlns:a="http://schemas.openxmlformats.org/drawingml/2006/main" noGrp="1"/>
          </p:cNvSpPr>
          <p:nvPr/>
        </p:nvSpPr>
        <p:spPr>
          <a:xfrm xmlns:a="http://schemas.openxmlformats.org/drawingml/2006/main">
            <a:off x="6457950" y="196215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64D"/>
                </a:solidFill>
                <a:latin typeface="Helvetica Neue"/>
                <a:ea typeface="Helvetica Neue"/>
                <a:cs typeface="Helvetica Neue"/>
              </a:defRPr>
            </a:pPr>
            <a:r>
              <a:rPr sz="2175" b="1">
                <a:solidFill>
                  <a:srgbClr val="17364D"/>
                </a:solidFill>
                <a:latin typeface="Helvetica Neue"/>
                <a:ea typeface="Helvetica Neue"/>
                <a:cs typeface="Helvetica Neue"/>
              </a:rPr>
              <a:t>New in Weeks 5–6</a:t>
            </a:r>
          </a:p>
        </p:txBody>
      </p:sp>
      <p:sp>
        <p:nvSpPr>
          <p:cNvPr id="7" name="">
            <a:extLst xmlns:a="http://schemas.openxmlformats.org/drawingml/2006/main">
              <a:ext uri="{FF2B5EF4-FFF2-40B4-BE49-F238E27FC236}">
                <a16:creationId xmlns:a16="http://schemas.microsoft.com/office/drawing/2014/main" id="{4FB22F82-1603-4FA2-8C83-3DF7B26D34BF}"/>
              </a:ext>
            </a:extLst>
          </p:cNvPr>
          <p:cNvSpPr>
            <a:spLocks xmlns:a="http://schemas.openxmlformats.org/drawingml/2006/main" noGrp="1"/>
          </p:cNvSpPr>
          <p:nvPr/>
        </p:nvSpPr>
        <p:spPr>
          <a:xfrm xmlns:a="http://schemas.openxmlformats.org/drawingml/2006/main">
            <a:off x="6457950" y="2562225"/>
            <a:ext cx="51244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XGBoost with nested model selection</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Held-out SHAP explanations</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Probability and targeting diagnostics</a:t>
            </a:r>
          </a:p>
        </p:txBody>
      </p:sp>
      <p:sp>
        <p:nvSpPr>
          <p:cNvPr id="8" name="">
            <a:extLst xmlns:a="http://schemas.openxmlformats.org/drawingml/2006/main">
              <a:ext uri="{FF2B5EF4-FFF2-40B4-BE49-F238E27FC236}">
                <a16:creationId xmlns:a16="http://schemas.microsoft.com/office/drawing/2014/main" id="{54E17480-1CEE-46B8-839E-1558B1B94F5A}"/>
              </a:ext>
            </a:extLst>
          </p:cNvPr>
          <p:cNvSpPr>
            <a:spLocks xmlns:a="http://schemas.openxmlformats.org/drawingml/2006/main" noGrp="1"/>
          </p:cNvSpPr>
          <p:nvPr/>
        </p:nvSpPr>
        <p:spPr>
          <a:xfrm xmlns:a="http://schemas.openxmlformats.org/drawingml/2006/main">
            <a:off x="609600" y="445770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27C80"/>
                </a:solidFill>
                <a:latin typeface="Helvetica Neue"/>
                <a:ea typeface="Helvetica Neue"/>
                <a:cs typeface="Helvetica Neue"/>
              </a:defRPr>
            </a:pPr>
            <a:r>
              <a:rPr sz="4350" b="1">
                <a:solidFill>
                  <a:srgbClr val="127C80"/>
                </a:solidFill>
                <a:latin typeface="Helvetica Neue"/>
                <a:ea typeface="Helvetica Neue"/>
                <a:cs typeface="Helvetica Neue"/>
              </a:rPr>
              <a:t>144</a:t>
            </a:r>
          </a:p>
        </p:txBody>
      </p:sp>
      <p:sp>
        <p:nvSpPr>
          <p:cNvPr id="9" name="">
            <a:extLst xmlns:a="http://schemas.openxmlformats.org/drawingml/2006/main">
              <a:ext uri="{FF2B5EF4-FFF2-40B4-BE49-F238E27FC236}">
                <a16:creationId xmlns:a16="http://schemas.microsoft.com/office/drawing/2014/main" id="{9B19FCEB-2D0E-4053-8DBF-42011E23341C}"/>
              </a:ext>
            </a:extLst>
          </p:cNvPr>
          <p:cNvSpPr>
            <a:spLocks xmlns:a="http://schemas.openxmlformats.org/drawingml/2006/main" noGrp="1"/>
          </p:cNvSpPr>
          <p:nvPr/>
        </p:nvSpPr>
        <p:spPr>
          <a:xfrm xmlns:a="http://schemas.openxmlformats.org/drawingml/2006/main">
            <a:off x="609600" y="51911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3547"/>
                </a:solidFill>
                <a:latin typeface="Helvetica Neue"/>
                <a:ea typeface="Helvetica Neue"/>
                <a:cs typeface="Helvetica Neue"/>
              </a:defRPr>
            </a:pPr>
            <a:r>
              <a:rPr sz="1800" b="0">
                <a:solidFill>
                  <a:srgbClr val="213547"/>
                </a:solidFill>
                <a:latin typeface="Helvetica Neue"/>
                <a:ea typeface="Helvetica Neue"/>
                <a:cs typeface="Helvetica Neue"/>
              </a:rPr>
              <a:t>inner tuning fits</a:t>
            </a:r>
          </a:p>
        </p:txBody>
      </p:sp>
      <p:sp>
        <p:nvSpPr>
          <p:cNvPr id="10" name="">
            <a:extLst xmlns:a="http://schemas.openxmlformats.org/drawingml/2006/main">
              <a:ext uri="{FF2B5EF4-FFF2-40B4-BE49-F238E27FC236}">
                <a16:creationId xmlns:a16="http://schemas.microsoft.com/office/drawing/2014/main" id="{D7DC8DD7-92FA-4353-865A-782B39C072CE}"/>
              </a:ext>
            </a:extLst>
          </p:cNvPr>
          <p:cNvSpPr>
            <a:spLocks xmlns:a="http://schemas.openxmlformats.org/drawingml/2006/main" noGrp="1"/>
          </p:cNvSpPr>
          <p:nvPr/>
        </p:nvSpPr>
        <p:spPr>
          <a:xfrm xmlns:a="http://schemas.openxmlformats.org/drawingml/2006/main">
            <a:off x="4314825" y="445770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27C80"/>
                </a:solidFill>
                <a:latin typeface="Helvetica Neue"/>
                <a:ea typeface="Helvetica Neue"/>
                <a:cs typeface="Helvetica Neue"/>
              </a:defRPr>
            </a:pPr>
            <a:r>
              <a:rPr sz="4350" b="1">
                <a:solidFill>
                  <a:srgbClr val="127C80"/>
                </a:solidFill>
                <a:latin typeface="Helvetica Neue"/>
                <a:ea typeface="Helvetica Neue"/>
                <a:cs typeface="Helvetica Neue"/>
              </a:rPr>
              <a:t>42</a:t>
            </a:r>
          </a:p>
        </p:txBody>
      </p:sp>
      <p:sp>
        <p:nvSpPr>
          <p:cNvPr id="11" name="">
            <a:extLst xmlns:a="http://schemas.openxmlformats.org/drawingml/2006/main">
              <a:ext uri="{FF2B5EF4-FFF2-40B4-BE49-F238E27FC236}">
                <a16:creationId xmlns:a16="http://schemas.microsoft.com/office/drawing/2014/main" id="{40A447DB-9097-4AE4-90D3-78E6FB65EE71}"/>
              </a:ext>
            </a:extLst>
          </p:cNvPr>
          <p:cNvSpPr>
            <a:spLocks xmlns:a="http://schemas.openxmlformats.org/drawingml/2006/main" noGrp="1"/>
          </p:cNvSpPr>
          <p:nvPr/>
        </p:nvSpPr>
        <p:spPr>
          <a:xfrm xmlns:a="http://schemas.openxmlformats.org/drawingml/2006/main">
            <a:off x="4314825" y="51911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3547"/>
                </a:solidFill>
                <a:latin typeface="Helvetica Neue"/>
                <a:ea typeface="Helvetica Neue"/>
                <a:cs typeface="Helvetica Neue"/>
              </a:defRPr>
            </a:pPr>
            <a:r>
              <a:rPr sz="1800" b="0">
                <a:solidFill>
                  <a:srgbClr val="213547"/>
                </a:solidFill>
                <a:latin typeface="Helvetica Neue"/>
                <a:ea typeface="Helvetica Neue"/>
                <a:cs typeface="Helvetica Neue"/>
              </a:rPr>
              <a:t>outer model evaluations</a:t>
            </a:r>
          </a:p>
        </p:txBody>
      </p:sp>
      <p:sp>
        <p:nvSpPr>
          <p:cNvPr id="12" name="">
            <a:extLst xmlns:a="http://schemas.openxmlformats.org/drawingml/2006/main">
              <a:ext uri="{FF2B5EF4-FFF2-40B4-BE49-F238E27FC236}">
                <a16:creationId xmlns:a16="http://schemas.microsoft.com/office/drawing/2014/main" id="{CD09A74D-D3D0-4300-9F89-F7163C0D17D1}"/>
              </a:ext>
            </a:extLst>
          </p:cNvPr>
          <p:cNvSpPr>
            <a:spLocks xmlns:a="http://schemas.openxmlformats.org/drawingml/2006/main" noGrp="1"/>
          </p:cNvSpPr>
          <p:nvPr/>
        </p:nvSpPr>
        <p:spPr>
          <a:xfrm xmlns:a="http://schemas.openxmlformats.org/drawingml/2006/main">
            <a:off x="8210550" y="445770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27C80"/>
                </a:solidFill>
                <a:latin typeface="Helvetica Neue"/>
                <a:ea typeface="Helvetica Neue"/>
                <a:cs typeface="Helvetica Neue"/>
              </a:defRPr>
            </a:pPr>
            <a:r>
              <a:rPr sz="4350" b="1">
                <a:solidFill>
                  <a:srgbClr val="127C80"/>
                </a:solidFill>
                <a:latin typeface="Helvetica Neue"/>
                <a:ea typeface="Helvetica Neue"/>
                <a:cs typeface="Helvetica Neue"/>
              </a:rPr>
              <a:t>14</a:t>
            </a:r>
          </a:p>
        </p:txBody>
      </p:sp>
      <p:sp>
        <p:nvSpPr>
          <p:cNvPr id="13" name="">
            <a:extLst xmlns:a="http://schemas.openxmlformats.org/drawingml/2006/main">
              <a:ext uri="{FF2B5EF4-FFF2-40B4-BE49-F238E27FC236}">
                <a16:creationId xmlns:a16="http://schemas.microsoft.com/office/drawing/2014/main" id="{52A3B390-0D75-43BD-B37C-AA219B850D16}"/>
              </a:ext>
            </a:extLst>
          </p:cNvPr>
          <p:cNvSpPr>
            <a:spLocks xmlns:a="http://schemas.openxmlformats.org/drawingml/2006/main" noGrp="1"/>
          </p:cNvSpPr>
          <p:nvPr/>
        </p:nvSpPr>
        <p:spPr>
          <a:xfrm xmlns:a="http://schemas.openxmlformats.org/drawingml/2006/main">
            <a:off x="8210550" y="51911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3547"/>
                </a:solidFill>
                <a:latin typeface="Helvetica Neue"/>
                <a:ea typeface="Helvetica Neue"/>
                <a:cs typeface="Helvetica Neue"/>
              </a:defRPr>
            </a:pPr>
            <a:r>
              <a:rPr sz="1800" b="0">
                <a:solidFill>
                  <a:srgbClr val="213547"/>
                </a:solidFill>
                <a:latin typeface="Helvetica Neue"/>
                <a:ea typeface="Helvetica Neue"/>
                <a:cs typeface="Helvetica Neue"/>
              </a:rPr>
              <a:t>outer validation splits</a:t>
            </a:r>
          </a:p>
        </p:txBody>
      </p:sp>
      <p:sp>
        <p:nvSpPr>
          <p:cNvPr id="14" name="">
            <a:extLst xmlns:a="http://schemas.openxmlformats.org/drawingml/2006/main">
              <a:ext uri="{FF2B5EF4-FFF2-40B4-BE49-F238E27FC236}">
                <a16:creationId xmlns:a16="http://schemas.microsoft.com/office/drawing/2014/main" id="{E562090B-BEDC-4C64-A2DF-B4008D513B3F}"/>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We reproduced all 28 baseline rows. Final test sets remain reserved.</a:t>
            </a:r>
          </a:p>
        </p:txBody>
      </p:sp>
    </p:spTree>
    <p:extLst>
      <p:ext uri="{BB962C8B-B14F-4D97-AF65-F5344CB8AC3E}">
        <p14:creationId xmlns:p14="http://schemas.microsoft.com/office/powerpoint/2010/main" val="200589696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B9F0A0-5309-4127-B166-F3D42508F90E}"/>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Methods and validation</a:t>
            </a:r>
          </a:p>
        </p:txBody>
      </p:sp>
      <p:sp>
        <p:nvSpPr>
          <p:cNvPr id="2" name="">
            <a:extLst xmlns:a="http://schemas.openxmlformats.org/drawingml/2006/main">
              <a:ext uri="{FF2B5EF4-FFF2-40B4-BE49-F238E27FC236}">
                <a16:creationId xmlns:a16="http://schemas.microsoft.com/office/drawing/2014/main" id="{9CCFD8D9-E135-40CD-9DA2-14F763D70FEC}"/>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Every candidate learns preprocessing and model parameters from training data only.</a:t>
            </a:r>
          </a:p>
        </p:txBody>
      </p:sp>
      <p:sp>
        <p:nvSpPr>
          <p:cNvPr id="3" name="">
            <a:extLst xmlns:a="http://schemas.openxmlformats.org/drawingml/2006/main">
              <a:ext uri="{FF2B5EF4-FFF2-40B4-BE49-F238E27FC236}">
                <a16:creationId xmlns:a16="http://schemas.microsoft.com/office/drawing/2014/main" id="{0D279995-2946-441D-9E1F-B9928D7B54FE}"/>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4B4B1D7-ABC8-4F8D-BB60-0C103F79EAEA}"/>
              </a:ext>
            </a:extLst>
          </p:cNvPr>
          <p:cNvSpPr>
            <a:spLocks xmlns:a="http://schemas.openxmlformats.org/drawingml/2006/main" noGrp="1"/>
          </p:cNvSpPr>
          <p:nvPr/>
        </p:nvSpPr>
        <p:spPr>
          <a:xfrm xmlns:a="http://schemas.openxmlformats.org/drawingml/2006/main">
            <a:off x="609600" y="19431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Telecom</a:t>
            </a:r>
          </a:p>
        </p:txBody>
      </p:sp>
      <p:sp>
        <p:nvSpPr>
          <p:cNvPr id="5" name="">
            <a:extLst xmlns:a="http://schemas.openxmlformats.org/drawingml/2006/main">
              <a:ext uri="{FF2B5EF4-FFF2-40B4-BE49-F238E27FC236}">
                <a16:creationId xmlns:a16="http://schemas.microsoft.com/office/drawing/2014/main" id="{1BC74160-E4F0-4D33-807E-6A3D49163BA3}"/>
              </a:ext>
            </a:extLst>
          </p:cNvPr>
          <p:cNvSpPr>
            <a:spLocks xmlns:a="http://schemas.openxmlformats.org/drawingml/2006/main" noGrp="1"/>
          </p:cNvSpPr>
          <p:nvPr/>
        </p:nvSpPr>
        <p:spPr>
          <a:xfrm xmlns:a="http://schemas.openxmlformats.org/drawingml/2006/main">
            <a:off x="609600" y="25622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5 outer folds</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3 inner folds for tuning</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Iranian profile groups stay together</a:t>
            </a:r>
          </a:p>
        </p:txBody>
      </p:sp>
      <p:sp>
        <p:nvSpPr>
          <p:cNvPr id="6" name="">
            <a:extLst xmlns:a="http://schemas.openxmlformats.org/drawingml/2006/main">
              <a:ext uri="{FF2B5EF4-FFF2-40B4-BE49-F238E27FC236}">
                <a16:creationId xmlns:a16="http://schemas.microsoft.com/office/drawing/2014/main" id="{94BCC3A7-3479-486E-A738-A3404ECC1738}"/>
              </a:ext>
            </a:extLst>
          </p:cNvPr>
          <p:cNvSpPr>
            <a:spLocks xmlns:a="http://schemas.openxmlformats.org/drawingml/2006/main" noGrp="1"/>
          </p:cNvSpPr>
          <p:nvPr/>
        </p:nvSpPr>
        <p:spPr>
          <a:xfrm xmlns:a="http://schemas.openxmlformats.org/drawingml/2006/main">
            <a:off x="4371975" y="194310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Retail</a:t>
            </a:r>
          </a:p>
        </p:txBody>
      </p:sp>
      <p:sp>
        <p:nvSpPr>
          <p:cNvPr id="7" name="">
            <a:extLst xmlns:a="http://schemas.openxmlformats.org/drawingml/2006/main">
              <a:ext uri="{FF2B5EF4-FFF2-40B4-BE49-F238E27FC236}">
                <a16:creationId xmlns:a16="http://schemas.microsoft.com/office/drawing/2014/main" id="{903A43A2-11B0-4772-AFF2-EDE40F48F92D}"/>
              </a:ext>
            </a:extLst>
          </p:cNvPr>
          <p:cNvSpPr>
            <a:spLocks xmlns:a="http://schemas.openxmlformats.org/drawingml/2006/main" noGrp="1"/>
          </p:cNvSpPr>
          <p:nvPr/>
        </p:nvSpPr>
        <p:spPr>
          <a:xfrm xmlns:a="http://schemas.openxmlformats.org/drawingml/2006/main">
            <a:off x="4371975" y="2562225"/>
            <a:ext cx="3286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4 forward validation origins</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180-day purchase history</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90-day non-repeat outcome</a:t>
            </a:r>
          </a:p>
        </p:txBody>
      </p:sp>
      <p:sp>
        <p:nvSpPr>
          <p:cNvPr id="8" name="">
            <a:extLst xmlns:a="http://schemas.openxmlformats.org/drawingml/2006/main">
              <a:ext uri="{FF2B5EF4-FFF2-40B4-BE49-F238E27FC236}">
                <a16:creationId xmlns:a16="http://schemas.microsoft.com/office/drawing/2014/main" id="{34C5121F-1953-4EFB-845B-15DE5EDC5ADA}"/>
              </a:ext>
            </a:extLst>
          </p:cNvPr>
          <p:cNvSpPr>
            <a:spLocks xmlns:a="http://schemas.openxmlformats.org/drawingml/2006/main" noGrp="1"/>
          </p:cNvSpPr>
          <p:nvPr/>
        </p:nvSpPr>
        <p:spPr>
          <a:xfrm xmlns:a="http://schemas.openxmlformats.org/drawingml/2006/main">
            <a:off x="8153400" y="19431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XGBoost search</a:t>
            </a:r>
          </a:p>
        </p:txBody>
      </p:sp>
      <p:sp>
        <p:nvSpPr>
          <p:cNvPr id="9" name="">
            <a:extLst xmlns:a="http://schemas.openxmlformats.org/drawingml/2006/main">
              <a:ext uri="{FF2B5EF4-FFF2-40B4-BE49-F238E27FC236}">
                <a16:creationId xmlns:a16="http://schemas.microsoft.com/office/drawing/2014/main" id="{AF74F93C-5002-4037-9C3D-12F32381C1AC}"/>
              </a:ext>
            </a:extLst>
          </p:cNvPr>
          <p:cNvSpPr>
            <a:spLocks xmlns:a="http://schemas.openxmlformats.org/drawingml/2006/main" noGrp="1"/>
          </p:cNvSpPr>
          <p:nvPr/>
        </p:nvSpPr>
        <p:spPr>
          <a:xfrm xmlns:a="http://schemas.openxmlformats.org/drawingml/2006/main">
            <a:off x="8153400" y="2562225"/>
            <a:ext cx="342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Depth: 2 or 3</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Trees: 150 or 300</a:t>
            </a:r>
          </a:p>
          <a:p xmlns:a="http://schemas.openxmlformats.org/drawingml/2006/main">
            <a:pPr>
              <a:defRPr sz="1875" b="0">
                <a:solidFill>
                  <a:srgbClr val="213547"/>
                </a:solidFill>
                <a:latin typeface="Helvetica Neue"/>
                <a:ea typeface="Helvetica Neue"/>
                <a:cs typeface="Helvetica Neue"/>
              </a:defRPr>
            </a:pPr>
            <a:r>
              <a:rPr sz="1875" b="0">
                <a:solidFill>
                  <a:srgbClr val="213547"/>
                </a:solidFill>
                <a:latin typeface="Helvetica Neue"/>
                <a:ea typeface="Helvetica Neue"/>
                <a:cs typeface="Helvetica Neue"/>
              </a:rPr>
              <a:t>Selection: average precision</a:t>
            </a:r>
          </a:p>
        </p:txBody>
      </p:sp>
      <p:sp>
        <p:nvSpPr>
          <p:cNvPr id="10" name="">
            <a:extLst xmlns:a="http://schemas.openxmlformats.org/drawingml/2006/main">
              <a:ext uri="{FF2B5EF4-FFF2-40B4-BE49-F238E27FC236}">
                <a16:creationId xmlns:a16="http://schemas.microsoft.com/office/drawing/2014/main" id="{6D7850FD-DBDA-492F-84FE-3E8DD8857FD5}"/>
              </a:ext>
            </a:extLst>
          </p:cNvPr>
          <p:cNvSpPr>
            <a:spLocks xmlns:a="http://schemas.openxmlformats.org/drawingml/2006/main" noGrp="1"/>
          </p:cNvSpPr>
          <p:nvPr/>
        </p:nvSpPr>
        <p:spPr>
          <a:xfrm xmlns:a="http://schemas.openxmlformats.org/drawingml/2006/main">
            <a:off x="609600" y="45910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64D"/>
                </a:solidFill>
                <a:latin typeface="Helvetica Neue"/>
                <a:ea typeface="Helvetica Neue"/>
                <a:cs typeface="Helvetica Neue"/>
              </a:defRPr>
            </a:pPr>
            <a:r>
              <a:rPr sz="2250" b="1">
                <a:solidFill>
                  <a:srgbClr val="17364D"/>
                </a:solidFill>
                <a:latin typeface="Helvetica Neue"/>
                <a:ea typeface="Helvetica Neue"/>
                <a:cs typeface="Helvetica Neue"/>
              </a:rPr>
              <a:t>Select within the training partition, refit, then evaluate on the outer fold.</a:t>
            </a:r>
          </a:p>
        </p:txBody>
      </p:sp>
      <p:sp>
        <p:nvSpPr>
          <p:cNvPr id="11" name="">
            <a:extLst xmlns:a="http://schemas.openxmlformats.org/drawingml/2006/main">
              <a:ext uri="{FF2B5EF4-FFF2-40B4-BE49-F238E27FC236}">
                <a16:creationId xmlns:a16="http://schemas.microsoft.com/office/drawing/2014/main" id="{FB371306-19CB-49BD-BEE0-25B6C5355D9F}"/>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First retail origin uses a fixed candidate. No fitted calibration or threshold tuning yet.</a:t>
            </a:r>
          </a:p>
        </p:txBody>
      </p:sp>
    </p:spTree>
    <p:extLst>
      <p:ext uri="{BB962C8B-B14F-4D97-AF65-F5344CB8AC3E}">
        <p14:creationId xmlns:p14="http://schemas.microsoft.com/office/powerpoint/2010/main" val="2005409968"/>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0179FC-6771-4CD2-814A-E7E5117BE00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XGBoost gains differ by dataset</a:t>
            </a:r>
          </a:p>
        </p:txBody>
      </p:sp>
      <p:sp>
        <p:nvSpPr>
          <p:cNvPr id="2" name="">
            <a:extLst xmlns:a="http://schemas.openxmlformats.org/drawingml/2006/main">
              <a:ext uri="{FF2B5EF4-FFF2-40B4-BE49-F238E27FC236}">
                <a16:creationId xmlns:a16="http://schemas.microsoft.com/office/drawing/2014/main" id="{1333641C-2AB1-47EE-9051-4DFA4660BF90}"/>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Average precision summarizes precision and recall across ranking thresholds. Higher is better.</a:t>
            </a:r>
          </a:p>
        </p:txBody>
      </p:sp>
      <p:sp>
        <p:nvSpPr>
          <p:cNvPr id="3" name="">
            <a:extLst xmlns:a="http://schemas.openxmlformats.org/drawingml/2006/main">
              <a:ext uri="{FF2B5EF4-FFF2-40B4-BE49-F238E27FC236}">
                <a16:creationId xmlns:a16="http://schemas.microsoft.com/office/drawing/2014/main" id="{6BE1F18C-7064-4A49-B49C-137E708B2584}"/>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04</a:t>
            </a:r>
          </a:p>
        </p:txBody>
      </p:sp>
      <p:graphicFrame>
        <p:nvGraphicFramePr>
          <p:cNvPr id="9" name="Chart"/>
          <p:cNvGraphicFramePr/>
          <p:nvPr/>
        </p:nvGraphicFramePr>
        <p:xfrm>
          <a:off xmlns:a="http://schemas.openxmlformats.org/drawingml/2006/main" x="609600" y="1809750"/>
          <a:ext xmlns:a="http://schemas.openxmlformats.org/drawingml/2006/main" cx="10972800" cy="3638550"/>
        </p:xfrm>
        <a:graphic xmlns:a="http://schemas.openxmlformats.org/drawingml/2006/main">
          <a:graphicData uri="http://schemas.openxmlformats.org/drawingml/2006/chart">
            <c:chart xmlns:r="http://schemas.openxmlformats.org/officeDocument/2006/relationships" xmlns:c="http://schemas.openxmlformats.org/drawingml/2006/chart" r:id="Red512fddc6144d43"/>
          </a:graphicData>
        </a:graphic>
      </p:graphicFrame>
      <p:sp>
        <p:nvSpPr>
          <p:cNvPr id="5" name="">
            <a:extLst xmlns:a="http://schemas.openxmlformats.org/drawingml/2006/main">
              <a:ext uri="{FF2B5EF4-FFF2-40B4-BE49-F238E27FC236}">
                <a16:creationId xmlns:a16="http://schemas.microsoft.com/office/drawing/2014/main" id="{CF07E6AD-B3AB-417F-8234-664FA207D2F2}"/>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AP gain: IBM +0.010, Iranian +0.121, retail +0.0004. These are development results.</a:t>
            </a:r>
          </a:p>
        </p:txBody>
      </p:sp>
    </p:spTree>
    <p:extLst>
      <p:ext uri="{BB962C8B-B14F-4D97-AF65-F5344CB8AC3E}">
        <p14:creationId xmlns:p14="http://schemas.microsoft.com/office/powerpoint/2010/main" val="90030525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535363-0347-4408-9511-F7381DCF333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Probability accuracy improves mainly for Iranian churn</a:t>
            </a:r>
          </a:p>
        </p:txBody>
      </p:sp>
      <p:sp>
        <p:nvSpPr>
          <p:cNvPr id="2" name="">
            <a:extLst xmlns:a="http://schemas.openxmlformats.org/drawingml/2006/main">
              <a:ext uri="{FF2B5EF4-FFF2-40B4-BE49-F238E27FC236}">
                <a16:creationId xmlns:a16="http://schemas.microsoft.com/office/drawing/2014/main" id="{CE7E3155-EF63-4157-936B-181FC722964B}"/>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Brier score measures squared probability error. Lower is better.</a:t>
            </a:r>
          </a:p>
        </p:txBody>
      </p:sp>
      <p:sp>
        <p:nvSpPr>
          <p:cNvPr id="3" name="">
            <a:extLst xmlns:a="http://schemas.openxmlformats.org/drawingml/2006/main">
              <a:ext uri="{FF2B5EF4-FFF2-40B4-BE49-F238E27FC236}">
                <a16:creationId xmlns:a16="http://schemas.microsoft.com/office/drawing/2014/main" id="{CC0F5E52-F084-4A0F-AF3A-EF0A854FFAC0}"/>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05</a:t>
            </a:r>
          </a:p>
        </p:txBody>
      </p:sp>
      <p:graphicFrame>
        <p:nvGraphicFramePr>
          <p:cNvPr id="9" name="Chart"/>
          <p:cNvGraphicFramePr/>
          <p:nvPr/>
        </p:nvGraphicFramePr>
        <p:xfrm>
          <a:off xmlns:a="http://schemas.openxmlformats.org/drawingml/2006/main" x="609600" y="1809750"/>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5043a5c18b304487"/>
          </a:graphicData>
        </a:graphic>
      </p:graphicFrame>
      <p:sp>
        <p:nvSpPr>
          <p:cNvPr id="5" name="">
            <a:extLst xmlns:a="http://schemas.openxmlformats.org/drawingml/2006/main">
              <a:ext uri="{FF2B5EF4-FFF2-40B4-BE49-F238E27FC236}">
                <a16:creationId xmlns:a16="http://schemas.microsoft.com/office/drawing/2014/main" id="{8E480995-8039-400A-B27A-D6AA890676D3}"/>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Retail cohort-retention error remains about 10.6 percentage points for both models.</a:t>
            </a:r>
          </a:p>
        </p:txBody>
      </p:sp>
    </p:spTree>
    <p:extLst>
      <p:ext uri="{BB962C8B-B14F-4D97-AF65-F5344CB8AC3E}">
        <p14:creationId xmlns:p14="http://schemas.microsoft.com/office/powerpoint/2010/main" val="94708110"/>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1CFE69-B252-4F6A-B163-71BE19C37143}"/>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Predictive features vary across datasets</a:t>
            </a:r>
          </a:p>
        </p:txBody>
      </p:sp>
      <p:sp>
        <p:nvSpPr>
          <p:cNvPr id="2" name="">
            <a:extLst xmlns:a="http://schemas.openxmlformats.org/drawingml/2006/main">
              <a:ext uri="{FF2B5EF4-FFF2-40B4-BE49-F238E27FC236}">
                <a16:creationId xmlns:a16="http://schemas.microsoft.com/office/drawing/2014/main" id="{B2FB54E8-1291-4319-9F7C-DAF345FCD5B0}"/>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Mean absolute TreeSHAP contribution on outer validation rows, in log-odds units.</a:t>
            </a:r>
          </a:p>
        </p:txBody>
      </p:sp>
      <p:sp>
        <p:nvSpPr>
          <p:cNvPr id="3" name="">
            <a:extLst xmlns:a="http://schemas.openxmlformats.org/drawingml/2006/main">
              <a:ext uri="{FF2B5EF4-FFF2-40B4-BE49-F238E27FC236}">
                <a16:creationId xmlns:a16="http://schemas.microsoft.com/office/drawing/2014/main" id="{0AF4518B-B7C1-4982-8055-DB9B2E08E5E5}"/>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F66D741-42D4-4D86-8E39-A15E3C6A74AD}"/>
              </a:ext>
            </a:extLst>
          </p:cNvPr>
          <p:cNvSpPr>
            <a:spLocks xmlns:a="http://schemas.openxmlformats.org/drawingml/2006/main" noGrp="1"/>
          </p:cNvSpPr>
          <p:nvPr/>
        </p:nvSpPr>
        <p:spPr>
          <a:xfrm xmlns:a="http://schemas.openxmlformats.org/drawingml/2006/main">
            <a:off x="609600" y="18764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64D"/>
                </a:solidFill>
                <a:latin typeface="Helvetica Neue"/>
                <a:ea typeface="Helvetica Neue"/>
                <a:cs typeface="Helvetica Neue"/>
              </a:defRPr>
            </a:pPr>
            <a:r>
              <a:rPr sz="2100" b="1">
                <a:solidFill>
                  <a:srgbClr val="17364D"/>
                </a:solidFill>
                <a:latin typeface="Helvetica Neue"/>
                <a:ea typeface="Helvetica Neue"/>
                <a:cs typeface="Helvetica Neue"/>
              </a:rPr>
              <a:t>IBM Telco</a:t>
            </a:r>
          </a:p>
        </p:txBody>
      </p:sp>
      <p:graphicFrame>
        <p:nvGraphicFramePr>
          <p:cNvPr id="15" name="Chart"/>
          <p:cNvGraphicFramePr/>
          <p:nvPr/>
        </p:nvGraphicFramePr>
        <p:xfrm>
          <a:off xmlns:a="http://schemas.openxmlformats.org/drawingml/2006/main" x="609600" y="2447925"/>
          <a:ext xmlns:a="http://schemas.openxmlformats.org/drawingml/2006/main" cx="3524250" cy="3038475"/>
        </p:xfrm>
        <a:graphic xmlns:a="http://schemas.openxmlformats.org/drawingml/2006/main">
          <a:graphicData uri="http://schemas.openxmlformats.org/drawingml/2006/chart">
            <c:chart xmlns:r="http://schemas.openxmlformats.org/officeDocument/2006/relationships" xmlns:c="http://schemas.openxmlformats.org/drawingml/2006/chart" r:id="R978bc3bfbec34bdb"/>
          </a:graphicData>
        </a:graphic>
      </p:graphicFrame>
      <p:sp>
        <p:nvSpPr>
          <p:cNvPr id="6" name="">
            <a:extLst xmlns:a="http://schemas.openxmlformats.org/drawingml/2006/main">
              <a:ext uri="{FF2B5EF4-FFF2-40B4-BE49-F238E27FC236}">
                <a16:creationId xmlns:a16="http://schemas.microsoft.com/office/drawing/2014/main" id="{C661BABC-9038-4511-B1F9-688A35066E11}"/>
              </a:ext>
            </a:extLst>
          </p:cNvPr>
          <p:cNvSpPr>
            <a:spLocks xmlns:a="http://schemas.openxmlformats.org/drawingml/2006/main" noGrp="1"/>
          </p:cNvSpPr>
          <p:nvPr/>
        </p:nvSpPr>
        <p:spPr>
          <a:xfrm xmlns:a="http://schemas.openxmlformats.org/drawingml/2006/main">
            <a:off x="4391025" y="18764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64D"/>
                </a:solidFill>
                <a:latin typeface="Helvetica Neue"/>
                <a:ea typeface="Helvetica Neue"/>
                <a:cs typeface="Helvetica Neue"/>
              </a:defRPr>
            </a:pPr>
            <a:r>
              <a:rPr sz="2100" b="1">
                <a:solidFill>
                  <a:srgbClr val="17364D"/>
                </a:solidFill>
                <a:latin typeface="Helvetica Neue"/>
                <a:ea typeface="Helvetica Neue"/>
                <a:cs typeface="Helvetica Neue"/>
              </a:rPr>
              <a:t>Iranian churn</a:t>
            </a:r>
          </a:p>
        </p:txBody>
      </p:sp>
      <p:graphicFrame>
        <p:nvGraphicFramePr>
          <p:cNvPr id="17" name="Chart"/>
          <p:cNvGraphicFramePr/>
          <p:nvPr/>
        </p:nvGraphicFramePr>
        <p:xfrm>
          <a:off xmlns:a="http://schemas.openxmlformats.org/drawingml/2006/main" x="4391025" y="2447925"/>
          <a:ext xmlns:a="http://schemas.openxmlformats.org/drawingml/2006/main" cx="3524250" cy="3038475"/>
        </p:xfrm>
        <a:graphic xmlns:a="http://schemas.openxmlformats.org/drawingml/2006/main">
          <a:graphicData uri="http://schemas.openxmlformats.org/drawingml/2006/chart">
            <c:chart xmlns:r="http://schemas.openxmlformats.org/officeDocument/2006/relationships" xmlns:c="http://schemas.openxmlformats.org/drawingml/2006/chart" r:id="R75e4ab0420174ac5"/>
          </a:graphicData>
        </a:graphic>
      </p:graphicFrame>
      <p:sp>
        <p:nvSpPr>
          <p:cNvPr id="8" name="">
            <a:extLst xmlns:a="http://schemas.openxmlformats.org/drawingml/2006/main">
              <a:ext uri="{FF2B5EF4-FFF2-40B4-BE49-F238E27FC236}">
                <a16:creationId xmlns:a16="http://schemas.microsoft.com/office/drawing/2014/main" id="{43A085DC-822B-408A-BD00-3660209D27E3}"/>
              </a:ext>
            </a:extLst>
          </p:cNvPr>
          <p:cNvSpPr>
            <a:spLocks xmlns:a="http://schemas.openxmlformats.org/drawingml/2006/main" noGrp="1"/>
          </p:cNvSpPr>
          <p:nvPr/>
        </p:nvSpPr>
        <p:spPr>
          <a:xfrm xmlns:a="http://schemas.openxmlformats.org/drawingml/2006/main">
            <a:off x="8172450" y="18764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64D"/>
                </a:solidFill>
                <a:latin typeface="Helvetica Neue"/>
                <a:ea typeface="Helvetica Neue"/>
                <a:cs typeface="Helvetica Neue"/>
              </a:defRPr>
            </a:pPr>
            <a:r>
              <a:rPr sz="2100" b="1">
                <a:solidFill>
                  <a:srgbClr val="17364D"/>
                </a:solidFill>
                <a:latin typeface="Helvetica Neue"/>
                <a:ea typeface="Helvetica Neue"/>
                <a:cs typeface="Helvetica Neue"/>
              </a:rPr>
              <a:t>Online retail</a:t>
            </a:r>
          </a:p>
        </p:txBody>
      </p:sp>
      <p:graphicFrame>
        <p:nvGraphicFramePr>
          <p:cNvPr id="19" name="Chart"/>
          <p:cNvGraphicFramePr/>
          <p:nvPr/>
        </p:nvGraphicFramePr>
        <p:xfrm>
          <a:off xmlns:a="http://schemas.openxmlformats.org/drawingml/2006/main" x="8172450" y="2447925"/>
          <a:ext xmlns:a="http://schemas.openxmlformats.org/drawingml/2006/main" cx="3524250" cy="3038475"/>
        </p:xfrm>
        <a:graphic xmlns:a="http://schemas.openxmlformats.org/drawingml/2006/main">
          <a:graphicData uri="http://schemas.openxmlformats.org/drawingml/2006/chart">
            <c:chart xmlns:r="http://schemas.openxmlformats.org/officeDocument/2006/relationships" xmlns:c="http://schemas.openxmlformats.org/drawingml/2006/chart" r:id="R8bfc154746554b5a"/>
          </a:graphicData>
        </a:graphic>
      </p:graphicFrame>
      <p:sp>
        <p:nvSpPr>
          <p:cNvPr id="10" name="">
            <a:extLst xmlns:a="http://schemas.openxmlformats.org/drawingml/2006/main">
              <a:ext uri="{FF2B5EF4-FFF2-40B4-BE49-F238E27FC236}">
                <a16:creationId xmlns:a16="http://schemas.microsoft.com/office/drawing/2014/main" id="{B3A14FDE-C790-439F-8431-2738C5CE4D1E}"/>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These are predictive associations. Contribution size alone does not identify an effective intervention.</a:t>
            </a:r>
          </a:p>
        </p:txBody>
      </p:sp>
    </p:spTree>
    <p:extLst>
      <p:ext uri="{BB962C8B-B14F-4D97-AF65-F5344CB8AC3E}">
        <p14:creationId xmlns:p14="http://schemas.microsoft.com/office/powerpoint/2010/main" val="191152832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CD3979-BAC4-42A2-9287-0C40C70D1ED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Current conclusions and limitations</a:t>
            </a:r>
          </a:p>
        </p:txBody>
      </p:sp>
      <p:sp>
        <p:nvSpPr>
          <p:cNvPr id="2" name="">
            <a:extLst xmlns:a="http://schemas.openxmlformats.org/drawingml/2006/main">
              <a:ext uri="{FF2B5EF4-FFF2-40B4-BE49-F238E27FC236}">
                <a16:creationId xmlns:a16="http://schemas.microsoft.com/office/drawing/2014/main" id="{CF6A226A-D96B-46D1-85E3-E5F20F290562}"/>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The evidence supports dataset-specific choices for the next stage.</a:t>
            </a:r>
          </a:p>
        </p:txBody>
      </p:sp>
      <p:sp>
        <p:nvSpPr>
          <p:cNvPr id="3" name="">
            <a:extLst xmlns:a="http://schemas.openxmlformats.org/drawingml/2006/main">
              <a:ext uri="{FF2B5EF4-FFF2-40B4-BE49-F238E27FC236}">
                <a16:creationId xmlns:a16="http://schemas.microsoft.com/office/drawing/2014/main" id="{151EA6F9-1C39-4118-82DF-B04714852D54}"/>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3FAA934A-F21D-4E91-8B1C-F9E2CD449601}"/>
              </a:ext>
            </a:extLst>
          </p:cNvPr>
          <p:cNvSpPr>
            <a:spLocks xmlns:a="http://schemas.openxmlformats.org/drawingml/2006/main" noGrp="1"/>
          </p:cNvSpPr>
          <p:nvPr/>
        </p:nvSpPr>
        <p:spPr>
          <a:xfrm xmlns:a="http://schemas.openxmlformats.org/drawingml/2006/main">
            <a:off x="609600" y="198120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Iranian churn</a:t>
            </a:r>
          </a:p>
        </p:txBody>
      </p:sp>
      <p:sp>
        <p:nvSpPr>
          <p:cNvPr id="5" name="">
            <a:extLst xmlns:a="http://schemas.openxmlformats.org/drawingml/2006/main">
              <a:ext uri="{FF2B5EF4-FFF2-40B4-BE49-F238E27FC236}">
                <a16:creationId xmlns:a16="http://schemas.microsoft.com/office/drawing/2014/main" id="{6F4E7234-F563-4F22-AE3B-B29A1FAF4D0D}"/>
              </a:ext>
            </a:extLst>
          </p:cNvPr>
          <p:cNvSpPr>
            <a:spLocks xmlns:a="http://schemas.openxmlformats.org/drawingml/2006/main" noGrp="1"/>
          </p:cNvSpPr>
          <p:nvPr/>
        </p:nvSpPr>
        <p:spPr>
          <a:xfrm xmlns:a="http://schemas.openxmlformats.org/drawingml/2006/main">
            <a:off x="609600" y="310515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IBM Telco</a:t>
            </a:r>
          </a:p>
        </p:txBody>
      </p:sp>
      <p:sp>
        <p:nvSpPr>
          <p:cNvPr id="6" name="">
            <a:extLst xmlns:a="http://schemas.openxmlformats.org/drawingml/2006/main">
              <a:ext uri="{FF2B5EF4-FFF2-40B4-BE49-F238E27FC236}">
                <a16:creationId xmlns:a16="http://schemas.microsoft.com/office/drawing/2014/main" id="{98F9CE9B-FEC7-47FF-B42B-3D5D31B7AEBD}"/>
              </a:ext>
            </a:extLst>
          </p:cNvPr>
          <p:cNvSpPr>
            <a:spLocks xmlns:a="http://schemas.openxmlformats.org/drawingml/2006/main" noGrp="1"/>
          </p:cNvSpPr>
          <p:nvPr/>
        </p:nvSpPr>
        <p:spPr>
          <a:xfrm xmlns:a="http://schemas.openxmlformats.org/drawingml/2006/main">
            <a:off x="609600" y="422910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Online retail</a:t>
            </a:r>
          </a:p>
        </p:txBody>
      </p:sp>
      <p:sp>
        <p:nvSpPr>
          <p:cNvPr id="7" name="">
            <a:extLst xmlns:a="http://schemas.openxmlformats.org/drawingml/2006/main">
              <a:ext uri="{FF2B5EF4-FFF2-40B4-BE49-F238E27FC236}">
                <a16:creationId xmlns:a16="http://schemas.microsoft.com/office/drawing/2014/main" id="{D04E364A-B033-4210-B9C8-8F2DC5D518C1}"/>
              </a:ext>
            </a:extLst>
          </p:cNvPr>
          <p:cNvSpPr>
            <a:spLocks xmlns:a="http://schemas.openxmlformats.org/drawingml/2006/main" noGrp="1"/>
          </p:cNvSpPr>
          <p:nvPr/>
        </p:nvSpPr>
        <p:spPr>
          <a:xfrm xmlns:a="http://schemas.openxmlformats.org/drawingml/2006/main">
            <a:off x="3648075" y="1981200"/>
            <a:ext cx="7905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Prioritize XGBoost for further validation.</a:t>
            </a:r>
          </a:p>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Average precision rises from 0.755 to 0.875.</a:t>
            </a:r>
          </a:p>
        </p:txBody>
      </p:sp>
      <p:sp>
        <p:nvSpPr>
          <p:cNvPr id="8" name="">
            <a:extLst xmlns:a="http://schemas.openxmlformats.org/drawingml/2006/main">
              <a:ext uri="{FF2B5EF4-FFF2-40B4-BE49-F238E27FC236}">
                <a16:creationId xmlns:a16="http://schemas.microsoft.com/office/drawing/2014/main" id="{30977EA6-0F09-4673-8C00-6313DA0D4FA9}"/>
              </a:ext>
            </a:extLst>
          </p:cNvPr>
          <p:cNvSpPr>
            <a:spLocks xmlns:a="http://schemas.openxmlformats.org/drawingml/2006/main" noGrp="1"/>
          </p:cNvSpPr>
          <p:nvPr/>
        </p:nvSpPr>
        <p:spPr>
          <a:xfrm xmlns:a="http://schemas.openxmlformats.org/drawingml/2006/main">
            <a:off x="3648075" y="3105150"/>
            <a:ext cx="7905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Keep Logistic Regression as a competitive option.</a:t>
            </a:r>
          </a:p>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The average precision gain is small.</a:t>
            </a:r>
          </a:p>
        </p:txBody>
      </p:sp>
      <p:sp>
        <p:nvSpPr>
          <p:cNvPr id="9" name="">
            <a:extLst xmlns:a="http://schemas.openxmlformats.org/drawingml/2006/main">
              <a:ext uri="{FF2B5EF4-FFF2-40B4-BE49-F238E27FC236}">
                <a16:creationId xmlns:a16="http://schemas.microsoft.com/office/drawing/2014/main" id="{AA642A73-9CD4-424E-9C09-8C0368C0C29B}"/>
              </a:ext>
            </a:extLst>
          </p:cNvPr>
          <p:cNvSpPr>
            <a:spLocks xmlns:a="http://schemas.openxmlformats.org/drawingml/2006/main" noGrp="1"/>
          </p:cNvSpPr>
          <p:nvPr/>
        </p:nvSpPr>
        <p:spPr>
          <a:xfrm xmlns:a="http://schemas.openxmlformats.org/drawingml/2006/main">
            <a:off x="3648075" y="4229100"/>
            <a:ext cx="7905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Keep the linear model as the reference.</a:t>
            </a:r>
          </a:p>
          <a:p xmlns:a="http://schemas.openxmlformats.org/drawingml/2006/main">
            <a:pPr>
              <a:defRPr sz="2025" b="0">
                <a:solidFill>
                  <a:srgbClr val="213547"/>
                </a:solidFill>
                <a:latin typeface="Helvetica Neue"/>
                <a:ea typeface="Helvetica Neue"/>
                <a:cs typeface="Helvetica Neue"/>
              </a:defRPr>
            </a:pPr>
            <a:r>
              <a:rPr sz="2025" b="0">
                <a:solidFill>
                  <a:srgbClr val="213547"/>
                </a:solidFill>
                <a:latin typeface="Helvetica Neue"/>
                <a:ea typeface="Helvetica Neue"/>
                <a:cs typeface="Helvetica Neue"/>
              </a:rPr>
              <a:t>Prioritize temporal drift and probability calibration.</a:t>
            </a:r>
          </a:p>
        </p:txBody>
      </p:sp>
      <p:sp>
        <p:nvSpPr>
          <p:cNvPr id="10" name="">
            <a:extLst xmlns:a="http://schemas.openxmlformats.org/drawingml/2006/main">
              <a:ext uri="{FF2B5EF4-FFF2-40B4-BE49-F238E27FC236}">
                <a16:creationId xmlns:a16="http://schemas.microsoft.com/office/drawing/2014/main" id="{51833AC0-51F4-40EA-8581-4CC453EDA909}"/>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Limits: unknown Iranian customer identities, IBM lacks timestamps, and retail has four dependent origins.</a:t>
            </a:r>
          </a:p>
        </p:txBody>
      </p:sp>
    </p:spTree>
    <p:extLst>
      <p:ext uri="{BB962C8B-B14F-4D97-AF65-F5344CB8AC3E}">
        <p14:creationId xmlns:p14="http://schemas.microsoft.com/office/powerpoint/2010/main" val="208224155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E9A83E-DE0B-4DE0-BB1F-48540F7770F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64D"/>
                </a:solidFill>
                <a:latin typeface="Helvetica Neue"/>
                <a:ea typeface="Helvetica Neue"/>
                <a:cs typeface="Helvetica Neue"/>
              </a:defRPr>
            </a:pPr>
            <a:r>
              <a:rPr sz="3225" b="1">
                <a:solidFill>
                  <a:srgbClr val="17364D"/>
                </a:solidFill>
                <a:latin typeface="Helvetica Neue"/>
                <a:ea typeface="Helvetica Neue"/>
                <a:cs typeface="Helvetica Neue"/>
              </a:rPr>
              <a:t>Future plan: Weeks 7–8</a:t>
            </a:r>
          </a:p>
        </p:txBody>
      </p:sp>
      <p:sp>
        <p:nvSpPr>
          <p:cNvPr id="2" name="">
            <a:extLst xmlns:a="http://schemas.openxmlformats.org/drawingml/2006/main">
              <a:ext uri="{FF2B5EF4-FFF2-40B4-BE49-F238E27FC236}">
                <a16:creationId xmlns:a16="http://schemas.microsoft.com/office/drawing/2014/main" id="{AD15B9F3-1990-4C05-8F42-EA4C71456884}"/>
              </a:ext>
            </a:extLst>
          </p:cNvPr>
          <p:cNvSpPr>
            <a:spLocks xmlns:a="http://schemas.openxmlformats.org/drawingml/2006/main" noGrp="1"/>
          </p:cNvSpPr>
          <p:nvPr/>
        </p:nvSpPr>
        <p:spPr>
          <a:xfrm xmlns:a="http://schemas.openxmlformats.org/drawingml/2006/main">
            <a:off x="609600" y="1104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6777"/>
                </a:solidFill>
                <a:latin typeface="Helvetica Neue"/>
                <a:ea typeface="Helvetica Neue"/>
                <a:cs typeface="Helvetica Neue"/>
              </a:defRPr>
            </a:pPr>
            <a:r>
              <a:rPr sz="1800" b="0">
                <a:solidFill>
                  <a:srgbClr val="546777"/>
                </a:solidFill>
                <a:latin typeface="Helvetica Neue"/>
                <a:ea typeface="Helvetica Neue"/>
                <a:cs typeface="Helvetica Neue"/>
              </a:rPr>
              <a:t>The next milestone will test probability quality and explanation stability.</a:t>
            </a:r>
          </a:p>
        </p:txBody>
      </p:sp>
      <p:sp>
        <p:nvSpPr>
          <p:cNvPr id="3" name="">
            <a:extLst xmlns:a="http://schemas.openxmlformats.org/drawingml/2006/main">
              <a:ext uri="{FF2B5EF4-FFF2-40B4-BE49-F238E27FC236}">
                <a16:creationId xmlns:a16="http://schemas.microsoft.com/office/drawing/2014/main" id="{BCFD8868-A8C2-409C-8616-47CA6EE77B9B}"/>
              </a:ext>
            </a:extLst>
          </p:cNvPr>
          <p:cNvSpPr>
            <a:spLocks xmlns:a="http://schemas.openxmlformats.org/drawingml/2006/main" noGrp="1"/>
          </p:cNvSpPr>
          <p:nvPr/>
        </p:nvSpPr>
        <p:spPr>
          <a:xfrm xmlns:a="http://schemas.openxmlformats.org/drawingml/2006/main">
            <a:off x="111633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46777"/>
                </a:solidFill>
                <a:latin typeface="Helvetica Neue"/>
                <a:ea typeface="Helvetica Neue"/>
                <a:cs typeface="Helvetica Neue"/>
              </a:defRPr>
            </a:pPr>
            <a:r>
              <a:rPr sz="1200" b="0">
                <a:solidFill>
                  <a:srgbClr val="546777"/>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27631EF-DF13-4B1A-A1B6-CEFC869827D1}"/>
              </a:ext>
            </a:extLst>
          </p:cNvPr>
          <p:cNvSpPr>
            <a:spLocks xmlns:a="http://schemas.openxmlformats.org/drawingml/2006/main" noGrp="1"/>
          </p:cNvSpPr>
          <p:nvPr/>
        </p:nvSpPr>
        <p:spPr>
          <a:xfrm xmlns:a="http://schemas.openxmlformats.org/drawingml/2006/main">
            <a:off x="609600" y="19716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7C80"/>
                </a:solidFill>
                <a:latin typeface="Helvetica Neue"/>
                <a:ea typeface="Helvetica Neue"/>
                <a:cs typeface="Helvetica Neue"/>
              </a:defRPr>
            </a:pPr>
            <a:r>
              <a:rPr sz="2475" b="1">
                <a:solidFill>
                  <a:srgbClr val="127C80"/>
                </a:solidFill>
                <a:latin typeface="Helvetica Neue"/>
                <a:ea typeface="Helvetica Neue"/>
                <a:cs typeface="Helvetica Neue"/>
              </a:rPr>
              <a:t>Week 7</a:t>
            </a:r>
          </a:p>
        </p:txBody>
      </p:sp>
      <p:sp>
        <p:nvSpPr>
          <p:cNvPr id="5" name="">
            <a:extLst xmlns:a="http://schemas.openxmlformats.org/drawingml/2006/main">
              <a:ext uri="{FF2B5EF4-FFF2-40B4-BE49-F238E27FC236}">
                <a16:creationId xmlns:a16="http://schemas.microsoft.com/office/drawing/2014/main" id="{0D38EC39-D51D-4017-AC4B-F4DCEC02C538}"/>
              </a:ext>
            </a:extLst>
          </p:cNvPr>
          <p:cNvSpPr>
            <a:spLocks xmlns:a="http://schemas.openxmlformats.org/drawingml/2006/main" noGrp="1"/>
          </p:cNvSpPr>
          <p:nvPr/>
        </p:nvSpPr>
        <p:spPr>
          <a:xfrm xmlns:a="http://schemas.openxmlformats.org/drawingml/2006/main">
            <a:off x="2952750" y="1971675"/>
            <a:ext cx="852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64D"/>
                </a:solidFill>
                <a:latin typeface="Helvetica Neue"/>
                <a:ea typeface="Helvetica Neue"/>
                <a:cs typeface="Helvetica Neue"/>
              </a:defRPr>
            </a:pPr>
            <a:r>
              <a:rPr sz="2250" b="1">
                <a:solidFill>
                  <a:srgbClr val="17364D"/>
                </a:solidFill>
                <a:latin typeface="Helvetica Neue"/>
                <a:ea typeface="Helvetica Neue"/>
                <a:cs typeface="Helvetica Neue"/>
              </a:rPr>
              <a:t>Probability calibration and retail drift</a:t>
            </a:r>
          </a:p>
        </p:txBody>
      </p:sp>
      <p:sp>
        <p:nvSpPr>
          <p:cNvPr id="6" name="">
            <a:extLst xmlns:a="http://schemas.openxmlformats.org/drawingml/2006/main">
              <a:ext uri="{FF2B5EF4-FFF2-40B4-BE49-F238E27FC236}">
                <a16:creationId xmlns:a16="http://schemas.microsoft.com/office/drawing/2014/main" id="{31C568EC-5302-4546-9E60-F066091D70FA}"/>
              </a:ext>
            </a:extLst>
          </p:cNvPr>
          <p:cNvSpPr>
            <a:spLocks xmlns:a="http://schemas.openxmlformats.org/drawingml/2006/main" noGrp="1"/>
          </p:cNvSpPr>
          <p:nvPr/>
        </p:nvSpPr>
        <p:spPr>
          <a:xfrm xmlns:a="http://schemas.openxmlformats.org/drawingml/2006/main">
            <a:off x="2952750" y="2571750"/>
            <a:ext cx="8524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Compare calibrated and raw probabilities using Brier score</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and cohort-retention error on the same outer splits.</a:t>
            </a:r>
          </a:p>
        </p:txBody>
      </p:sp>
      <p:sp>
        <p:nvSpPr>
          <p:cNvPr id="7" name="">
            <a:extLst xmlns:a="http://schemas.openxmlformats.org/drawingml/2006/main">
              <a:ext uri="{FF2B5EF4-FFF2-40B4-BE49-F238E27FC236}">
                <a16:creationId xmlns:a16="http://schemas.microsoft.com/office/drawing/2014/main" id="{235A8B8F-1AB4-4B06-B59D-37C3CB34E7E7}"/>
              </a:ext>
            </a:extLst>
          </p:cNvPr>
          <p:cNvSpPr>
            <a:spLocks xmlns:a="http://schemas.openxmlformats.org/drawingml/2006/main" noGrp="1"/>
          </p:cNvSpPr>
          <p:nvPr/>
        </p:nvSpPr>
        <p:spPr>
          <a:xfrm xmlns:a="http://schemas.openxmlformats.org/drawingml/2006/main">
            <a:off x="609600" y="37052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7C80"/>
                </a:solidFill>
                <a:latin typeface="Helvetica Neue"/>
                <a:ea typeface="Helvetica Neue"/>
                <a:cs typeface="Helvetica Neue"/>
              </a:defRPr>
            </a:pPr>
            <a:r>
              <a:rPr sz="2475" b="1">
                <a:solidFill>
                  <a:srgbClr val="127C80"/>
                </a:solidFill>
                <a:latin typeface="Helvetica Neue"/>
                <a:ea typeface="Helvetica Neue"/>
                <a:cs typeface="Helvetica Neue"/>
              </a:rPr>
              <a:t>Week 8</a:t>
            </a:r>
          </a:p>
        </p:txBody>
      </p:sp>
      <p:sp>
        <p:nvSpPr>
          <p:cNvPr id="8" name="">
            <a:extLst xmlns:a="http://schemas.openxmlformats.org/drawingml/2006/main">
              <a:ext uri="{FF2B5EF4-FFF2-40B4-BE49-F238E27FC236}">
                <a16:creationId xmlns:a16="http://schemas.microsoft.com/office/drawing/2014/main" id="{45955F26-E78B-408F-9CE3-24F3DFCD0E4D}"/>
              </a:ext>
            </a:extLst>
          </p:cNvPr>
          <p:cNvSpPr>
            <a:spLocks xmlns:a="http://schemas.openxmlformats.org/drawingml/2006/main" noGrp="1"/>
          </p:cNvSpPr>
          <p:nvPr/>
        </p:nvSpPr>
        <p:spPr>
          <a:xfrm xmlns:a="http://schemas.openxmlformats.org/drawingml/2006/main">
            <a:off x="2952750" y="3705225"/>
            <a:ext cx="852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64D"/>
                </a:solidFill>
                <a:latin typeface="Helvetica Neue"/>
                <a:ea typeface="Helvetica Neue"/>
                <a:cs typeface="Helvetica Neue"/>
              </a:defRPr>
            </a:pPr>
            <a:r>
              <a:rPr sz="2250" b="1">
                <a:solidFill>
                  <a:srgbClr val="17364D"/>
                </a:solidFill>
                <a:latin typeface="Helvetica Neue"/>
                <a:ea typeface="Helvetica Neue"/>
                <a:cs typeface="Helvetica Neue"/>
              </a:rPr>
              <a:t>Explanation stability and final protocol</a:t>
            </a:r>
          </a:p>
        </p:txBody>
      </p:sp>
      <p:sp>
        <p:nvSpPr>
          <p:cNvPr id="9" name="">
            <a:extLst xmlns:a="http://schemas.openxmlformats.org/drawingml/2006/main">
              <a:ext uri="{FF2B5EF4-FFF2-40B4-BE49-F238E27FC236}">
                <a16:creationId xmlns:a16="http://schemas.microsoft.com/office/drawing/2014/main" id="{2CF1F367-6E54-4A29-B9BA-6C86921AF2F1}"/>
              </a:ext>
            </a:extLst>
          </p:cNvPr>
          <p:cNvSpPr>
            <a:spLocks xmlns:a="http://schemas.openxmlformats.org/drawingml/2006/main" noGrp="1"/>
          </p:cNvSpPr>
          <p:nvPr/>
        </p:nvSpPr>
        <p:spPr>
          <a:xfrm xmlns:a="http://schemas.openxmlformats.org/drawingml/2006/main">
            <a:off x="2952750" y="4305300"/>
            <a:ext cx="8524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Review SHAP direction and subgroup stability.</a:t>
            </a:r>
          </a:p>
          <a:p xmlns:a="http://schemas.openxmlformats.org/drawingml/2006/main">
            <a:pPr>
              <a:defRPr sz="1950" b="0">
                <a:solidFill>
                  <a:srgbClr val="213547"/>
                </a:solidFill>
                <a:latin typeface="Helvetica Neue"/>
                <a:ea typeface="Helvetica Neue"/>
                <a:cs typeface="Helvetica Neue"/>
              </a:defRPr>
            </a:pPr>
            <a:r>
              <a:rPr sz="1950" b="0">
                <a:solidFill>
                  <a:srgbClr val="213547"/>
                </a:solidFill>
                <a:latin typeface="Helvetica Neue"/>
                <a:ea typeface="Helvetica Neue"/>
                <a:cs typeface="Helvetica Neue"/>
              </a:rPr>
              <a:t>Freeze model choices and metrics before final testing.</a:t>
            </a:r>
          </a:p>
        </p:txBody>
      </p:sp>
      <p:sp>
        <p:nvSpPr>
          <p:cNvPr id="10" name="">
            <a:extLst xmlns:a="http://schemas.openxmlformats.org/drawingml/2006/main">
              <a:ext uri="{FF2B5EF4-FFF2-40B4-BE49-F238E27FC236}">
                <a16:creationId xmlns:a16="http://schemas.microsoft.com/office/drawing/2014/main" id="{DDB54635-751E-439A-A96F-9CB1242313CB}"/>
              </a:ext>
            </a:extLst>
          </p:cNvPr>
          <p:cNvSpPr>
            <a:spLocks xmlns:a="http://schemas.openxmlformats.org/drawingml/2006/main" noGrp="1"/>
          </p:cNvSpPr>
          <p:nvPr/>
        </p:nvSpPr>
        <p:spPr>
          <a:xfrm xmlns:a="http://schemas.openxmlformats.org/drawingml/2006/main">
            <a:off x="609600" y="601980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777"/>
                </a:solidFill>
                <a:latin typeface="Helvetica Neue"/>
                <a:ea typeface="Helvetica Neue"/>
                <a:cs typeface="Helvetica Neue"/>
              </a:defRPr>
            </a:pPr>
            <a:r>
              <a:rPr sz="1275" b="0">
                <a:solidFill>
                  <a:srgbClr val="546777"/>
                </a:solidFill>
                <a:latin typeface="Helvetica Neue"/>
                <a:ea typeface="Helvetica Neue"/>
                <a:cs typeface="Helvetica Neue"/>
              </a:rPr>
              <a:t>TA discussion: should retail prioritize customer ranking or cohort-retention forecasting?</a:t>
            </a:r>
          </a:p>
        </p:txBody>
      </p:sp>
    </p:spTree>
    <p:extLst>
      <p:ext uri="{BB962C8B-B14F-4D97-AF65-F5344CB8AC3E}">
        <p14:creationId xmlns:p14="http://schemas.microsoft.com/office/powerpoint/2010/main" val="1733033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2026-09-29T19:25:43.6450000Z</dcterms:created>
  <dcterms:modified xsi:type="dcterms:W3CDTF">2026-09-29T19:25:43.6450000Z</dcterms:modified>
</coreProperties>
</file>